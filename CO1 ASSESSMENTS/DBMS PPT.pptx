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4" r:id="rId15"/>
    <p:sldId id="275" r:id="rId16"/>
    <p:sldId id="276" r:id="rId17"/>
    <p:sldId id="271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45" userDrawn="1">
          <p15:clr>
            <a:srgbClr val="A4A3A4"/>
          </p15:clr>
        </p15:guide>
        <p15:guide id="2" pos="2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-798" y="-96"/>
      </p:cViewPr>
      <p:guideLst>
        <p:guide orient="horz" pos="2845"/>
        <p:guide pos="21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575" y="607377"/>
            <a:ext cx="8405495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65680"/>
            <a:ext cx="10259060" cy="4041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100" y="1845310"/>
            <a:ext cx="11280775" cy="112649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altLang="en-US" spc="-10" dirty="0"/>
              <a:t>Comparison of Strong and Weak Entities in ER Modeling with Real-World Examples</a:t>
            </a:r>
            <a:endParaRPr lang="en-US" altLang="en-US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515870" y="3048000"/>
            <a:ext cx="7341235" cy="761365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altLang="en-US" sz="2750" b="1">
                <a:latin typeface="Times New Roman" panose="02020603050405020304"/>
                <a:cs typeface="Times New Roman" panose="02020603050405020304"/>
              </a:rPr>
              <a:t>CSA0503 - Database Management Systems</a:t>
            </a:r>
            <a:endParaRPr sz="2750" b="1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7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200" y="152400"/>
            <a:ext cx="12078970" cy="12058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4572000"/>
            <a:ext cx="4419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SIDDHI SRIVASTAVA. P(192521454)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15400" y="4648200"/>
            <a:ext cx="3124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DR</a:t>
            </a:r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J. Ruby Elizabeth</a:t>
            </a:r>
            <a:endParaRPr lang="en-I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200" y="762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4700" y="50800"/>
            <a:ext cx="1257300" cy="1257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4800" y="1828800"/>
            <a:ext cx="11748135" cy="3285490"/>
          </a:xfrm>
          <a:prstGeom prst="rect">
            <a:avLst/>
          </a:prstGeom>
        </p:spPr>
        <p:txBody>
          <a:bodyPr vert="horz" wrap="square" lIns="0" tIns="12700" rIns="0" bIns="0" rtlCol="0" anchor="t" anchorCtr="0">
            <a:noAutofit/>
          </a:bodyPr>
          <a:lstStyle/>
          <a:p>
            <a:pPr marL="298450" marR="508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/>
                <a:cs typeface="Times New Roman" panose="02020603050405020304"/>
              </a:rPr>
              <a:t>ER modeling is a conceptual database design technique used to represent entities and their relationships.</a:t>
            </a:r>
            <a:endParaRPr lang="en-US" altLang="en-US" sz="1800" dirty="0">
              <a:latin typeface="Times New Roman" panose="02020603050405020304"/>
              <a:cs typeface="Times New Roman" panose="02020603050405020304"/>
            </a:endParaRPr>
          </a:p>
          <a:p>
            <a:pPr marL="298450" marR="508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/>
                <a:cs typeface="Times New Roman" panose="02020603050405020304"/>
              </a:rPr>
              <a:t>Strong entities have their own primary key and can exist independently.</a:t>
            </a:r>
            <a:endParaRPr lang="en-US" altLang="en-US" sz="1800" dirty="0">
              <a:latin typeface="Times New Roman" panose="02020603050405020304"/>
              <a:cs typeface="Times New Roman" panose="02020603050405020304"/>
            </a:endParaRPr>
          </a:p>
          <a:p>
            <a:pPr marL="298450" marR="508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/>
                <a:cs typeface="Times New Roman" panose="02020603050405020304"/>
              </a:rPr>
              <a:t>Weak entities depend on strong entities for identification and use a partial key.</a:t>
            </a:r>
            <a:endParaRPr lang="en-US" altLang="en-US" sz="1800" dirty="0">
              <a:latin typeface="Times New Roman" panose="02020603050405020304"/>
              <a:cs typeface="Times New Roman" panose="02020603050405020304"/>
            </a:endParaRPr>
          </a:p>
          <a:p>
            <a:pPr marL="298450" marR="508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/>
                <a:cs typeface="Times New Roman" panose="02020603050405020304"/>
              </a:rPr>
              <a:t>Understanding the difference between strong and weak entities helps in designing efficient and normalized databases.</a:t>
            </a:r>
            <a:endParaRPr lang="en-US" altLang="en-US" sz="1800" dirty="0">
              <a:latin typeface="Times New Roman" panose="02020603050405020304"/>
              <a:cs typeface="Times New Roman" panose="02020603050405020304"/>
            </a:endParaRPr>
          </a:p>
          <a:p>
            <a:pPr marL="298450" marR="508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/>
                <a:cs typeface="Times New Roman" panose="02020603050405020304"/>
              </a:rPr>
              <a:t>Real-world examples such as banking, e-commerce, hospitals, and libraries demonstrate the practical use of these entities.</a:t>
            </a:r>
            <a:endParaRPr lang="en-US" altLang="en-US" sz="1800" dirty="0">
              <a:latin typeface="Times New Roman" panose="02020603050405020304"/>
              <a:cs typeface="Times New Roman" panose="02020603050405020304"/>
            </a:endParaRPr>
          </a:p>
          <a:p>
            <a:pPr marL="298450" marR="508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/>
                <a:cs typeface="Times New Roman" panose="02020603050405020304"/>
              </a:rPr>
              <a:t>This presentation compares strong and weak entities, their ER diagram representations, characteristics, and importance in database design.</a:t>
            </a:r>
            <a:endParaRPr lang="en-US" altLang="en-US" sz="1800" dirty="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40000"/>
              </a:lnSpc>
              <a:spcBef>
                <a:spcPts val="100"/>
              </a:spcBef>
            </a:pPr>
            <a:endParaRPr lang="en-US" altLang="en-US"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40200" y="227965"/>
            <a:ext cx="431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21" rIns="0" bIns="0" rtlCol="0">
            <a:spAutoFit/>
          </a:bodyPr>
          <a:lstStyle/>
          <a:p>
            <a:pPr marL="3352800">
              <a:lnSpc>
                <a:spcPct val="100000"/>
              </a:lnSpc>
              <a:spcBef>
                <a:spcPts val="105"/>
              </a:spcBef>
            </a:pPr>
            <a:r>
              <a:rPr sz="3600" spc="-10" dirty="0"/>
              <a:t>INTRODUCTION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9100" y="2286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29900" y="228600"/>
            <a:ext cx="1257300" cy="12573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53060" y="1765935"/>
            <a:ext cx="11534775" cy="4461510"/>
          </a:xfrm>
          <a:prstGeom prst="rect">
            <a:avLst/>
          </a:prstGeom>
        </p:spPr>
        <p:txBody>
          <a:bodyPr vert="horz" wrap="square" lIns="0" tIns="95885" rIns="0" bIns="0" rtlCol="0">
            <a:noAutofit/>
          </a:bodyPr>
          <a:lstStyle/>
          <a:p>
            <a:pPr marL="354965" marR="5080" indent="-342900" algn="just">
              <a:lnSpc>
                <a:spcPct val="150000"/>
              </a:lnSpc>
              <a:spcBef>
                <a:spcPts val="75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(ER) Modeling</a:t>
            </a: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a conceptual design technique used to represent data and the relationships between entities.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75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 entity is a real-world object, such as a student, employee, customer, or product, about which data is stored.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75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Entities are classified into Strong Entities and Weak Entities based on their ability to exist independently.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75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 have their own primary key, while weak entities depend on strong entities for identification.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75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concepts helps in creating accurate, consistent, and efficient database designs with proper relationships and data integrity.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381317"/>
            <a:ext cx="8405495" cy="701040"/>
          </a:xfrm>
          <a:prstGeom prst="rect">
            <a:avLst/>
          </a:prstGeom>
        </p:spPr>
        <p:txBody>
          <a:bodyPr vert="horz" wrap="square" lIns="0" tIns="108521" rIns="0" bIns="0" rtlCol="0">
            <a:spAutoFit/>
          </a:bodyPr>
          <a:lstStyle/>
          <a:p>
            <a:pPr marL="2566670">
              <a:lnSpc>
                <a:spcPct val="100000"/>
              </a:lnSpc>
              <a:spcBef>
                <a:spcPts val="105"/>
              </a:spcBef>
            </a:pPr>
            <a:r>
              <a:rPr sz="3600" dirty="0"/>
              <a:t>PROBLEM</a:t>
            </a:r>
            <a:r>
              <a:rPr sz="3600" spc="-5" dirty="0"/>
              <a:t> </a:t>
            </a:r>
            <a:r>
              <a:rPr sz="3600" spc="-55" dirty="0"/>
              <a:t>STATEMENT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200" y="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400" y="66675"/>
            <a:ext cx="1257300" cy="1257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8600" y="1524000"/>
            <a:ext cx="11569065" cy="5005070"/>
          </a:xfrm>
          <a:prstGeom prst="rect">
            <a:avLst/>
          </a:prstGeom>
        </p:spPr>
        <p:txBody>
          <a:bodyPr vert="horz" wrap="square" lIns="0" tIns="52705" rIns="0" bIns="0" rtlCol="0">
            <a:noAutofit/>
          </a:bodyPr>
          <a:lstStyle/>
          <a:p>
            <a:pPr marL="354965" marR="29845" indent="-342900" algn="just">
              <a:lnSpc>
                <a:spcPct val="150000"/>
              </a:lnSpc>
              <a:spcBef>
                <a:spcPts val="41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Incorrect identification of 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strong and weak entities can lead to poor database design.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29845" indent="-342900" algn="just">
              <a:lnSpc>
                <a:spcPct val="150000"/>
              </a:lnSpc>
              <a:spcBef>
                <a:spcPts val="41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Treating weak entities as independent entities may result in 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 and inconsistency.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29845" indent="-342900" algn="just">
              <a:lnSpc>
                <a:spcPct val="150000"/>
              </a:lnSpc>
              <a:spcBef>
                <a:spcPts val="41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Weak entities require a 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 and a partial key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for proper identification and cannot exist independently.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29845" indent="-342900" algn="just">
              <a:lnSpc>
                <a:spcPct val="150000"/>
              </a:lnSpc>
              <a:spcBef>
                <a:spcPts val="41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Improper modeling of entity relationships can affect 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referential integrity and database reliability.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29845" indent="-342900" algn="just">
              <a:lnSpc>
                <a:spcPct val="150000"/>
              </a:lnSpc>
              <a:spcBef>
                <a:spcPts val="41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such as banking, hospitals, e-commerce, and libraries require accurate representation of strong and weak entities.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29845" indent="0" algn="just">
              <a:lnSpc>
                <a:spcPct val="150000"/>
              </a:lnSpc>
              <a:spcBef>
                <a:spcPts val="415"/>
              </a:spcBef>
              <a:buFont typeface="Arial MT"/>
              <a:buNone/>
              <a:tabLst>
                <a:tab pos="241300" algn="l"/>
              </a:tabLst>
            </a:pP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8330" y="381000"/>
            <a:ext cx="8204835" cy="661670"/>
          </a:xfrm>
          <a:prstGeom prst="rect">
            <a:avLst/>
          </a:prstGeom>
        </p:spPr>
        <p:txBody>
          <a:bodyPr vert="horz" wrap="square" lIns="0" tIns="108521" rIns="0" bIns="0" rtlCol="0">
            <a:spAutoFit/>
          </a:bodyPr>
          <a:lstStyle/>
          <a:p>
            <a:pPr marL="2676525">
              <a:lnSpc>
                <a:spcPct val="100000"/>
              </a:lnSpc>
              <a:spcBef>
                <a:spcPts val="105"/>
              </a:spcBef>
            </a:pPr>
            <a:r>
              <a:rPr lang="en-IN" sz="3600" spc="-10" dirty="0"/>
              <a:t>OBJECTIVES</a:t>
            </a:r>
            <a:endParaRPr lang="en-IN" sz="36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8120" y="762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4360" y="76200"/>
            <a:ext cx="1257300" cy="12573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28600" y="1676400"/>
            <a:ext cx="11388725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concept of 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 and 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Weak Entities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 ER modeling.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key differences between strong and weak entities based on their characteristics and identification methods.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explain the ER diagram representations of strong and weak entities using appropriate symbols.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role of primary keys, partial keys, and identifying relationships in database design.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real-world examples where strong and weak entities are used in various applications such as banking, healthcare, e-commerce, and education.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381000"/>
            <a:ext cx="8705850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/>
              <a:t>INTRODUCTION TO ER MODELLING</a:t>
            </a:r>
            <a:endParaRPr lang="en-IN" sz="36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200" y="762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6600" y="76200"/>
            <a:ext cx="1257300" cy="1257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2400" y="1524000"/>
            <a:ext cx="11894820" cy="524700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065" marR="152400" indent="0">
              <a:lnSpc>
                <a:spcPct val="150000"/>
              </a:lnSpc>
              <a:spcBef>
                <a:spcPts val="755"/>
              </a:spcBef>
              <a:buFont typeface="Arial MT"/>
              <a:buNone/>
              <a:tabLst>
                <a:tab pos="241300" algn="l"/>
              </a:tabLst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ER Modeling?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52400" indent="-229235">
              <a:lnSpc>
                <a:spcPct val="15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(ER) Modeling is a conceptual database design technique introduced by Peter Chen in 1976. It provides a graphical representation of data, entities, attributes, and relationships before the database is implemented.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152400" indent="0" algn="just">
              <a:lnSpc>
                <a:spcPct val="150000"/>
              </a:lnSpc>
              <a:spcBef>
                <a:spcPts val="755"/>
              </a:spcBef>
              <a:buFont typeface="Arial MT"/>
              <a:buNone/>
              <a:tabLst>
                <a:tab pos="241300" algn="l"/>
              </a:tabLst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 of ER Modeling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52400" indent="-229235">
              <a:lnSpc>
                <a:spcPct val="15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real-world objects in a database.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52400" indent="-229235">
              <a:lnSpc>
                <a:spcPct val="15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relationships among data.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52400" indent="-229235">
              <a:lnSpc>
                <a:spcPct val="15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Reduces redundancy and improves consistency.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52400" indent="-229235">
              <a:lnSpc>
                <a:spcPct val="15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Serves as a blueprint for database design.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200" y="1524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400" y="152400"/>
            <a:ext cx="1257300" cy="1257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8600" y="1476375"/>
            <a:ext cx="11430635" cy="5116195"/>
          </a:xfrm>
          <a:prstGeom prst="rect">
            <a:avLst/>
          </a:prstGeom>
        </p:spPr>
        <p:txBody>
          <a:bodyPr vert="horz" wrap="square" lIns="0" tIns="50800" rIns="0" bIns="0" rtlCol="0">
            <a:noAutofit/>
          </a:bodyPr>
          <a:lstStyle/>
          <a:p>
            <a:pPr marR="5080">
              <a:lnSpc>
                <a:spcPct val="150000"/>
              </a:lnSpc>
              <a:spcBef>
                <a:spcPts val="400"/>
              </a:spcBef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An Entity is a real-world object, person, place, event, or concept about which information is stored in a database.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80">
              <a:lnSpc>
                <a:spcPct val="150000"/>
              </a:lnSpc>
              <a:spcBef>
                <a:spcPts val="400"/>
              </a:spcBef>
              <a:tabLst>
                <a:tab pos="241300" algn="l"/>
              </a:tabLst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508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Has attributes describing it.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508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an object in the real world.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508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Can participate in relationships.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5080" indent="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None/>
              <a:tabLst>
                <a:tab pos="241300" algn="l"/>
              </a:tabLst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Types of Entities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508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508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Weak Entity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733800" y="518160"/>
            <a:ext cx="468630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AN ENTITY?</a:t>
            </a:r>
            <a:endParaRPr lang="en-US" altLang="en-US" sz="2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400" y="1524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400" y="152400"/>
            <a:ext cx="1257300" cy="12573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69060" y="434340"/>
            <a:ext cx="93751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  <a:endParaRPr lang="en-IN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70815" y="1828800"/>
            <a:ext cx="11561445" cy="4445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Strong Entity is an entity that can be uniquely identified by its own attributes.</a:t>
            </a: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possesses a Primary Key and exists independently.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I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existence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Own Primary Key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Easily identifiable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Can exist without any other entity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ER Representation</a:t>
            </a:r>
            <a:r>
              <a:rPr lang="en-I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Single Rectangle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is underlined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04800"/>
            <a:ext cx="9530080" cy="661670"/>
          </a:xfrm>
          <a:prstGeom prst="rect">
            <a:avLst/>
          </a:prstGeom>
        </p:spPr>
        <p:txBody>
          <a:bodyPr vert="horz" wrap="square" lIns="0" tIns="108521" rIns="0" bIns="0" rtlCol="0">
            <a:spAutoFit/>
          </a:bodyPr>
          <a:lstStyle/>
          <a:p>
            <a:pPr marL="3479800">
              <a:lnSpc>
                <a:spcPct val="100000"/>
              </a:lnSpc>
              <a:spcBef>
                <a:spcPts val="105"/>
              </a:spcBef>
            </a:pPr>
            <a:r>
              <a:rPr lang="en-IN" sz="3600">
                <a:sym typeface="+mn-ea"/>
              </a:rPr>
              <a:t>WEAK ENTITY</a:t>
            </a:r>
            <a:endParaRPr lang="en-IN" sz="3600">
              <a:sym typeface="+mn-ea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9100" y="2286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29900" y="228600"/>
            <a:ext cx="1257300" cy="12573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457200" y="1676400"/>
            <a:ext cx="11322685" cy="4829175"/>
          </a:xfrm>
          <a:prstGeom prst="rect">
            <a:avLst/>
          </a:prstGeom>
        </p:spPr>
        <p:txBody>
          <a:bodyPr vert="horz" wrap="square" lIns="0" tIns="50800" rIns="0" bIns="0" rtlCol="0">
            <a:noAutofit/>
          </a:bodyPr>
          <a:lstStyle/>
          <a:p>
            <a:pPr marL="12700" marR="227330" lvl="0" indent="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Weak Entity cannot be uniquely identified by its own attributes.</a:t>
            </a:r>
            <a:r>
              <a:rPr lang="en-IN" alt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depends on a Strong Entity and contains a Partial Key.</a:t>
            </a:r>
            <a:endParaRPr lang="en-US" altLang="en-US" sz="1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27330" lvl="0" indent="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altLang="en-US" sz="1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27330" lvl="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entity</a:t>
            </a:r>
            <a:endParaRPr lang="en-US" altLang="en-US" sz="1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27330" lvl="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Primary Key of its own</a:t>
            </a:r>
            <a:endParaRPr lang="en-US" altLang="en-US" sz="1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27330" lvl="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using owner entity</a:t>
            </a:r>
            <a:endParaRPr lang="en-US" altLang="en-US" sz="1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27330" lvl="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exist independently</a:t>
            </a:r>
            <a:endParaRPr lang="en-US" altLang="en-US" sz="1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27330" lvl="0" indent="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Representation</a:t>
            </a:r>
            <a:endParaRPr lang="en-US" altLang="en-US" sz="1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27330" lvl="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Rectangle</a:t>
            </a:r>
            <a:endParaRPr lang="en-US" altLang="en-US" sz="1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27330" lvl="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Diamond (Identifying Relationship)</a:t>
            </a:r>
            <a:endParaRPr lang="en-US" altLang="en-US" sz="1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3350" y="1524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400" y="152400"/>
            <a:ext cx="1257300" cy="12573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074420" y="423545"/>
            <a:ext cx="9871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" sz="3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STRONG ENTITY VS WEAK ENTITY</a:t>
            </a:r>
            <a:endParaRPr lang="en-IN" altLang="" sz="32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752475" y="1628140"/>
          <a:ext cx="9610725" cy="42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3575"/>
                <a:gridCol w="3203575"/>
                <a:gridCol w="3203575"/>
              </a:tblGrid>
              <a:tr h="527050"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Entity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Entity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527050"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Own Primary Key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 Key + Owner Key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527050"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Existence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Independent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527050"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Representation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Rectangle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 Rectangle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527050"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Participation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Partial/Total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Participation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527050"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Relationship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Identifying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527050"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Available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Available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527050"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Dependency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Strong Entity</a:t>
                      </a:r>
                      <a:endParaRPr lang="en-US" altLang="zh-C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100" y="381000"/>
            <a:ext cx="9287510" cy="661670"/>
          </a:xfrm>
          <a:prstGeom prst="rect">
            <a:avLst/>
          </a:prstGeom>
        </p:spPr>
        <p:txBody>
          <a:bodyPr vert="horz" wrap="square" lIns="0" tIns="108521" rIns="0" bIns="0" rtlCol="0">
            <a:spAutoFit/>
          </a:bodyPr>
          <a:lstStyle/>
          <a:p>
            <a:pPr marL="3147060">
              <a:lnSpc>
                <a:spcPct val="100000"/>
              </a:lnSpc>
              <a:spcBef>
                <a:spcPts val="105"/>
              </a:spcBef>
            </a:pPr>
            <a:r>
              <a:rPr lang="en-IN" sz="3600"/>
              <a:t>Diagram Representation</a:t>
            </a:r>
            <a:endParaRPr lang="en-IN" sz="36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9100" y="2286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268605"/>
            <a:ext cx="1257300" cy="1257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510" y="1552575"/>
            <a:ext cx="9256395" cy="5176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657590" cy="621030"/>
          </a:xfrm>
          <a:prstGeom prst="rect">
            <a:avLst/>
          </a:prstGeom>
        </p:spPr>
        <p:txBody>
          <a:bodyPr vert="horz" wrap="square" lIns="0" tIns="129222" rIns="0" bIns="0" rtlCol="0">
            <a:spAutoFit/>
          </a:bodyPr>
          <a:lstStyle/>
          <a:p>
            <a:pPr marL="3803650">
              <a:lnSpc>
                <a:spcPct val="100000"/>
              </a:lnSpc>
              <a:spcBef>
                <a:spcPts val="130"/>
              </a:spcBef>
            </a:pPr>
            <a:r>
              <a:rPr lang="en-IN" spc="-10" dirty="0"/>
              <a:t>Real world applications</a:t>
            </a:r>
            <a:endParaRPr lang="en-IN"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400" y="762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0395" y="142875"/>
            <a:ext cx="1257300" cy="1257300"/>
          </a:xfrm>
          <a:prstGeom prst="rect">
            <a:avLst/>
          </a:prstGeom>
        </p:spPr>
      </p:pic>
      <p:pic>
        <p:nvPicPr>
          <p:cNvPr id="6" name="Picture 5" descr="ChatGPT Image Jul 20, 2026, 10_30_06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143000"/>
            <a:ext cx="9485630" cy="56222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421005"/>
            <a:ext cx="9452610" cy="621030"/>
          </a:xfrm>
          <a:prstGeom prst="rect">
            <a:avLst/>
          </a:prstGeom>
        </p:spPr>
        <p:txBody>
          <a:bodyPr vert="horz" wrap="square" lIns="0" tIns="129222" rIns="0" bIns="0" rtlCol="0">
            <a:spAutoFit/>
          </a:bodyPr>
          <a:lstStyle/>
          <a:p>
            <a:pPr marL="3803650">
              <a:lnSpc>
                <a:spcPct val="100000"/>
              </a:lnSpc>
              <a:spcBef>
                <a:spcPts val="130"/>
              </a:spcBef>
            </a:pPr>
            <a:r>
              <a:rPr lang="en-IN">
                <a:sym typeface="+mn-ea"/>
              </a:rPr>
              <a:t>Advantages and limitations</a:t>
            </a:r>
            <a:endParaRPr lang="en-IN" spc="-10" dirty="0">
              <a:sym typeface="+mn-ea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400" y="762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0395" y="142875"/>
            <a:ext cx="1257300" cy="1257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2400" y="1794510"/>
            <a:ext cx="5661660" cy="50196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065" marR="5080" indent="0" algn="just">
              <a:lnSpc>
                <a:spcPct val="150000"/>
              </a:lnSpc>
              <a:spcBef>
                <a:spcPts val="390"/>
              </a:spcBef>
              <a:buFont typeface="Arial MT"/>
              <a:buNone/>
              <a:tabLst>
                <a:tab pos="241300" algn="l"/>
              </a:tabLst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Easy identification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existence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Faster searching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Simpler implementation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indent="0" algn="just">
              <a:lnSpc>
                <a:spcPct val="150000"/>
              </a:lnSpc>
              <a:spcBef>
                <a:spcPts val="390"/>
              </a:spcBef>
              <a:buFont typeface="Arial MT"/>
              <a:buNone/>
              <a:tabLst>
                <a:tab pos="241300" algn="l"/>
              </a:tabLst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Cannot model dependent objects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Requires separate entities for related details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indent="0" algn="just">
              <a:lnSpc>
                <a:spcPct val="150000"/>
              </a:lnSpc>
              <a:spcBef>
                <a:spcPts val="390"/>
              </a:spcBef>
              <a:buFont typeface="Arial MT"/>
              <a:buNone/>
              <a:tabLst>
                <a:tab pos="241300" algn="l"/>
              </a:tabLst>
            </a:pP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914390" y="1905000"/>
            <a:ext cx="6049010" cy="45040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5080">
              <a:lnSpc>
                <a:spcPct val="150000"/>
              </a:lnSpc>
              <a:spcBef>
                <a:spcPts val="390"/>
              </a:spcBef>
              <a:tabLst>
                <a:tab pos="241300" algn="l"/>
              </a:tabLst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Weak Entity</a:t>
            </a:r>
            <a:r>
              <a:rPr lang="en-IN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5080" indent="-342900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Represents dependent data accurately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5080" indent="-342900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Maintains referential integrity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5080" indent="-342900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Reduces redundancy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80">
              <a:lnSpc>
                <a:spcPct val="150000"/>
              </a:lnSpc>
              <a:spcBef>
                <a:spcPts val="390"/>
              </a:spcBef>
              <a:tabLst>
                <a:tab pos="241300" algn="l"/>
              </a:tabLst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Limitations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5080" indent="-342900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Cannot exist independently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5080" indent="-342900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Requires identifying relationship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5080" indent="-342900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More complex implementation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421322"/>
            <a:ext cx="8405495" cy="621030"/>
          </a:xfrm>
          <a:prstGeom prst="rect">
            <a:avLst/>
          </a:prstGeom>
        </p:spPr>
        <p:txBody>
          <a:bodyPr vert="horz" wrap="square" lIns="0" tIns="129222" rIns="0" bIns="0" rtlCol="0">
            <a:spAutoFit/>
          </a:bodyPr>
          <a:lstStyle/>
          <a:p>
            <a:pPr marL="3803650">
              <a:lnSpc>
                <a:spcPct val="100000"/>
              </a:lnSpc>
              <a:spcBef>
                <a:spcPts val="130"/>
              </a:spcBef>
            </a:pPr>
            <a:r>
              <a:rPr>
                <a:sym typeface="+mn-ea"/>
              </a:rPr>
              <a:t>FUTURE SCOPE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400" y="762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0395" y="142875"/>
            <a:ext cx="1257300" cy="1257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8450" y="1557020"/>
            <a:ext cx="11616690" cy="4699635"/>
          </a:xfrm>
          <a:prstGeom prst="rect">
            <a:avLst/>
          </a:prstGeom>
        </p:spPr>
        <p:txBody>
          <a:bodyPr vert="horz" wrap="square" lIns="0" tIns="49530" rIns="0" bIns="0" rtlCol="0">
            <a:noAutofit/>
          </a:bodyPr>
          <a:lstStyle/>
          <a:p>
            <a:pPr marL="12065" marR="5080" indent="0" algn="just">
              <a:lnSpc>
                <a:spcPct val="150000"/>
              </a:lnSpc>
              <a:spcBef>
                <a:spcPts val="390"/>
              </a:spcBef>
              <a:buFont typeface="Arial MT"/>
              <a:buNone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Apply strong and weak entity concepts in designing large-scale database systems for enterprises and cloud applications.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ER modeling with advanced database technologies such as NoSQL and distributed databases.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Use ER modeling techniques in AI, IoT, healthcare, banking, and e-commerce applications for efficient data management.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Develop automated ER diagram generation and validation tools to simplify database design.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Enhance database performance and scalability by adopting improved modeling techniques and best design practices.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421322"/>
            <a:ext cx="8405495" cy="621030"/>
          </a:xfrm>
          <a:prstGeom prst="rect">
            <a:avLst/>
          </a:prstGeom>
        </p:spPr>
        <p:txBody>
          <a:bodyPr vert="horz" wrap="square" lIns="0" tIns="129222" rIns="0" bIns="0" rtlCol="0">
            <a:spAutoFit/>
          </a:bodyPr>
          <a:lstStyle/>
          <a:p>
            <a:pPr marL="3803650">
              <a:lnSpc>
                <a:spcPct val="100000"/>
              </a:lnSpc>
              <a:spcBef>
                <a:spcPts val="130"/>
              </a:spcBef>
            </a:pPr>
            <a:r>
              <a:rPr>
                <a:sym typeface="+mn-ea"/>
              </a:rPr>
              <a:t>CONCLUSION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400" y="76200"/>
            <a:ext cx="1009650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0395" y="142875"/>
            <a:ext cx="1257300" cy="1257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4150" y="1595120"/>
            <a:ext cx="11673840" cy="4530090"/>
          </a:xfrm>
          <a:prstGeom prst="rect">
            <a:avLst/>
          </a:prstGeom>
        </p:spPr>
        <p:txBody>
          <a:bodyPr vert="horz" wrap="square" lIns="0" tIns="49530" rIns="0" bIns="0" rtlCol="0">
            <a:noAutofit/>
          </a:bodyPr>
          <a:lstStyle/>
          <a:p>
            <a:pPr marL="12065" marR="5080" indent="0" algn="just">
              <a:lnSpc>
                <a:spcPct val="150000"/>
              </a:lnSpc>
              <a:spcBef>
                <a:spcPts val="390"/>
              </a:spcBef>
              <a:buFont typeface="Arial MT"/>
              <a:buNone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Strong entities can exist independently and have their own primary key, whereas weak entities depend 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on strong entities for identification.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differences between these entities is essential for creating accurate ER diagrams and database structures.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Proper use of strong and weak entities helps maintain referential integrity, reduces redundancy, and improves data consistency.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such as banking, hospitals, libraries, and e-commerce effectively utilize these concepts in database design.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200" y="161925"/>
            <a:ext cx="1009650" cy="13239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400" y="152400"/>
            <a:ext cx="1257300" cy="1257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49220" y="2888615"/>
            <a:ext cx="6705600" cy="10293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dirty="0"/>
              <a:t>THANK</a:t>
            </a:r>
            <a:r>
              <a:rPr sz="6600" spc="-275" dirty="0"/>
              <a:t> </a:t>
            </a:r>
            <a:r>
              <a:rPr sz="6600" spc="-20" dirty="0"/>
              <a:t>YOU</a:t>
            </a:r>
            <a:r>
              <a:rPr lang="en-IN" sz="6600" spc="-20" dirty="0"/>
              <a:t> !!!</a:t>
            </a:r>
            <a:endParaRPr lang="en-IN" sz="6600" spc="-2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5866</Words>
  <Application>WPS Presentation</Application>
  <PresentationFormat>Custom</PresentationFormat>
  <Paragraphs>190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Trebuchet MS</vt:lpstr>
      <vt:lpstr>Times New Roman</vt:lpstr>
      <vt:lpstr>Arial MT</vt:lpstr>
      <vt:lpstr>Microsoft YaHei</vt:lpstr>
      <vt:lpstr>Arial Unicode MS</vt:lpstr>
      <vt:lpstr>Calibri</vt:lpstr>
      <vt:lpstr>MS PGothic</vt:lpstr>
      <vt:lpstr>Office Theme</vt:lpstr>
      <vt:lpstr>Intelligent Career Recommendation System Using Bayesian Inference and Vector Similarity </vt:lpstr>
      <vt:lpstr>PowerPoint 演示文稿</vt:lpstr>
      <vt:lpstr>INTRODUCTION</vt:lpstr>
      <vt:lpstr>PROBLEM STATEMENT</vt:lpstr>
      <vt:lpstr>OBJECTIVES</vt:lpstr>
      <vt:lpstr>VECTOR REPRESENTATION</vt:lpstr>
      <vt:lpstr>PowerPoint 演示文稿</vt:lpstr>
      <vt:lpstr>PowerPoint 演示文稿</vt:lpstr>
      <vt:lpstr>BAYESIAN INFERENCE</vt:lpstr>
      <vt:lpstr>PowerPoint 演示文稿</vt:lpstr>
      <vt:lpstr>REAL-TIME APPLICATION</vt:lpstr>
      <vt:lpstr>ADVANTAGES</vt:lpstr>
      <vt:lpstr>CHALLENGES</vt:lpstr>
      <vt:lpstr>FUTURE SCOPE</vt:lpstr>
      <vt:lpstr>CONCLUSION</vt:lpstr>
      <vt:lpstr>THANK YOU 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ULTRASONIC SENSOR FOR BLIND</dc:title>
  <dc:creator/>
  <cp:lastModifiedBy>pramo</cp:lastModifiedBy>
  <cp:revision>16</cp:revision>
  <dcterms:created xsi:type="dcterms:W3CDTF">2026-01-06T17:41:00Z</dcterms:created>
  <dcterms:modified xsi:type="dcterms:W3CDTF">2026-07-20T17:08:21Z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2026-01-06T22:00:00Z</vt:filetime>
  </property>
  <property fmtid="{D5CDD505-2E9C-101B-9397-08002B2CF9AE}" pid="3" name="LastSaved">
    <vt:filetime>2026-01-06T22:00:00Z</vt:filetime>
  </property>
  <property fmtid="{D5CDD505-2E9C-101B-9397-08002B2CF9AE}" pid="4" name="ICV">
    <vt:lpwstr>6DB54DB3C7CF479399529F6A3F0B1D9B_13</vt:lpwstr>
  </property>
  <property fmtid="{D5CDD505-2E9C-101B-9397-08002B2CF9AE}" pid="5" name="KSOProductBuildVer">
    <vt:lpwstr>1033-12.1.0.26880</vt:lpwstr>
  </property>
</Properties>
</file>